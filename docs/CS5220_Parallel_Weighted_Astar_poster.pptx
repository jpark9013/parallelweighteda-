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09728"/>
            <a:ext cx="11750040" cy="102412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C0000"/>
                </a:solidFill>
              </a:defRPr>
            </a:pPr>
            <a:r>
              <a:t>Parallel Weighted A*</a:t>
            </a:r>
          </a:p>
          <a:p>
            <a:pPr algn="ctr">
              <a:defRPr sz="1400"/>
            </a:pPr>
            <a:r>
              <a:t>Jillian Chong (jc2886) · Julian Park (jp2534) · Lina Hao (lh657)</a:t>
            </a:r>
          </a:p>
          <a:p>
            <a:pPr algn="ctr">
              <a:defRPr sz="1200" i="1"/>
            </a:pPr>
            <a:r>
              <a:t>Cornell University · CS 5220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70432"/>
            <a:ext cx="3703320" cy="214884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243584"/>
            <a:ext cx="3557016" cy="20025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b="1" sz="1300">
                <a:solidFill>
                  <a:srgbClr val="333333"/>
                </a:solidFill>
              </a:defRPr>
            </a:pPr>
            <a:r>
              <a:t>Introduction</a:t>
            </a:r>
          </a:p>
          <a:p>
            <a:pPr>
              <a:spcBef>
                <a:spcPts val="400"/>
              </a:spcBef>
              <a:defRPr sz="900">
                <a:solidFill>
                  <a:srgbClr val="222222"/>
                </a:solidFill>
              </a:defRPr>
            </a:pPr>
            <a:r>
              <a:t>We explore a hybrid MPI/OpenMP parallel implementation of weighted A*. Weighted A* scales the heuristic in f = g + w·h to trade optimality for fewer expansions when h is informative. We vary MPI ranks, OpenMP threads per rank, heuristic weight w (vs. serial), and graph families: implicit grids with obstacles, geometric k-nearest-neighbor graphs, and CSR edge lists. Hypothesis: larger w narrows the frontier and can reduce cross-rank work—subject to graph structure and distributed ordering effects.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383280"/>
            <a:ext cx="3703320" cy="178308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3456432"/>
            <a:ext cx="3557016" cy="16367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b="1" sz="1300">
                <a:solidFill>
                  <a:srgbClr val="333333"/>
                </a:solidFill>
              </a:defRPr>
            </a:pPr>
            <a:r>
              <a:t>Key Findings</a:t>
            </a:r>
          </a:p>
          <a:p>
            <a:pPr>
              <a:spcBef>
                <a:spcPts val="400"/>
              </a:spcBef>
              <a:defRPr sz="900">
                <a:solidFill>
                  <a:srgbClr val="222222"/>
                </a:solidFill>
              </a:defRPr>
            </a:pPr>
            <a:r>
              <a:t>• w &gt; 1 often cuts expansions vs w = 1 on grid/geom (suboptimal paths possible).</a:t>
            </a:r>
            <a:br/>
            <a:r>
              <a:t>• MPI can speed large geom-like workloads; on easy grids MPI may trail serial (ordering + messaging).</a:t>
            </a:r>
            <a:br/>
            <a:r>
              <a:t>• OpenMP mainly helps high-degree neighbor work; grids/geom usually expand neighbors serially.</a:t>
            </a:r>
            <a:br/>
            <a:r>
              <a:t>• Many-thread ranks contend on locked frontier updates—1 thread/rank is often competitive.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239512"/>
            <a:ext cx="3703320" cy="2450592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5312664"/>
            <a:ext cx="3557016" cy="23042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b="1" sz="1300">
                <a:solidFill>
                  <a:srgbClr val="333333"/>
                </a:solidFill>
              </a:defRPr>
            </a:pPr>
            <a:r>
              <a:t>Methods</a:t>
            </a:r>
          </a:p>
          <a:p>
            <a:pPr>
              <a:spcBef>
                <a:spcPts val="400"/>
              </a:spcBef>
              <a:defRPr sz="900">
                <a:solidFill>
                  <a:srgbClr val="222222"/>
                </a:solidFill>
              </a:defRPr>
            </a:pPr>
            <a:r>
              <a:t>• Algorithm: distributed supersteps; each rank keeps local OPEN/gbest; relaxations routed by vertex partition (contiguous IDs).</a:t>
            </a:r>
            <a:br/>
            <a:r>
              <a:t>• MPI: batched exchange of relax messages between ranks (collective-style all-to-all pattern).</a:t>
            </a:r>
            <a:br/>
            <a:r>
              <a:t>• OpenMP: optional parallel neighbor staging when degree is high; parallel scan of inbound batches with serialized updates to shared frontier state.</a:t>
            </a:r>
            <a:br/>
            <a:r>
              <a:t>• Baselines: serial vs hybrid; weighted A* via flag -w; implicit graphs avoid storing 10^10–10^11 edges explicitly.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70432"/>
            <a:ext cx="3703320" cy="196596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1243584"/>
            <a:ext cx="3557016" cy="18196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b="1" sz="1300">
                <a:solidFill>
                  <a:srgbClr val="333333"/>
                </a:solidFill>
              </a:defRPr>
            </a:pPr>
            <a:r>
              <a:t>Analyses</a:t>
            </a:r>
          </a:p>
          <a:p>
            <a:pPr>
              <a:spcBef>
                <a:spcPts val="400"/>
              </a:spcBef>
              <a:defRPr sz="900">
                <a:solidFill>
                  <a:srgbClr val="222222"/>
                </a:solidFill>
              </a:defRPr>
            </a:pPr>
            <a:r>
              <a:t>• Parallel benefit needs sufficient work per step; narrow frontiers favor serial A* ordering.</a:t>
            </a:r>
            <a:br/>
            <a:r>
              <a:t>• Distributed search ≠ textbook serial A*: expansion counts and even reported costs can diverge.</a:t>
            </a:r>
            <a:br/>
            <a:r>
              <a:t>• Higher w reduces greedy conservatism but only where h ≠ 0 (CSR with h ≡ 0: w unused for ordering).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227832"/>
            <a:ext cx="3703320" cy="443484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3300984"/>
            <a:ext cx="3557016" cy="42885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b="1" sz="1300">
                <a:solidFill>
                  <a:srgbClr val="333333"/>
                </a:solidFill>
              </a:defRPr>
            </a:pPr>
            <a:r>
              <a:t>Results</a:t>
            </a:r>
          </a:p>
          <a:p>
            <a:pPr>
              <a:spcBef>
                <a:spcPts val="400"/>
              </a:spcBef>
              <a:defRPr sz="900">
                <a:solidFill>
                  <a:srgbClr val="222222"/>
                </a:solidFill>
              </a:defRPr>
            </a:pPr>
            <a:r>
              <a:t>Plot timing vs scenario (serial vs MPI layouts: ranks × threads). Line charts &amp; tables:</a:t>
            </a:r>
            <a:br/>
            <a:r>
              <a:t>results/w1_1e10_lines.(svg|jpg), results/w5_1e11_lines.(svg|jpg); raw TSV alongside.</a:t>
            </a:r>
            <a:br/>
            <a:r>
              <a:t>Patterns: strong MPI speedups on heavy geom at large n; many implicit-grid cases show serial competitive or faster program time_s; w = 5 reduces expansions sharply vs w = 1 on grids.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170432"/>
            <a:ext cx="3703320" cy="306324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1243584"/>
            <a:ext cx="3557016" cy="29169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b="1" sz="1300">
                <a:solidFill>
                  <a:srgbClr val="333333"/>
                </a:solidFill>
              </a:defRPr>
            </a:pPr>
            <a:r>
              <a:t>Conclusions</a:t>
            </a:r>
          </a:p>
          <a:p>
            <a:pPr>
              <a:spcBef>
                <a:spcPts val="400"/>
              </a:spcBef>
              <a:defRPr sz="900">
                <a:solidFill>
                  <a:srgbClr val="222222"/>
                </a:solidFill>
              </a:defRPr>
            </a:pPr>
            <a:r>
              <a:t>Weighted w is an effective knob when h &gt; 0. Hybrid MPI/OpenMP helps heavy searches but is not universally faster than serial—validate per graph family and (ranks, threads, w). Prefer profiling frontier updates and messaging before scaling ranks.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325112"/>
            <a:ext cx="3703320" cy="141732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4398264"/>
            <a:ext cx="3557016" cy="1271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b="1" sz="1300">
                <a:solidFill>
                  <a:srgbClr val="333333"/>
                </a:solidFill>
              </a:defRPr>
            </a:pPr>
            <a:r>
              <a:t>References</a:t>
            </a:r>
          </a:p>
          <a:p>
            <a:pPr>
              <a:spcBef>
                <a:spcPts val="400"/>
              </a:spcBef>
              <a:defRPr sz="800">
                <a:solidFill>
                  <a:srgbClr val="222222"/>
                </a:solidFill>
              </a:defRPr>
            </a:pPr>
            <a:r>
              <a:t>Hart, Nilsson, Raphael—A* (1968). Weighted / ε-admissible A* literature. MPI &amp; OpenMP specifications (versions used). Course materials—CS 5220.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5815584"/>
            <a:ext cx="3703320" cy="1874519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5888736"/>
            <a:ext cx="3557016" cy="1728215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b="1" sz="1300">
                <a:solidFill>
                  <a:srgbClr val="333333"/>
                </a:solidFill>
              </a:defRPr>
            </a:pPr>
            <a:r>
              <a:t>Acknowledgments</a:t>
            </a:r>
          </a:p>
          <a:p>
            <a:pPr>
              <a:spcBef>
                <a:spcPts val="400"/>
              </a:spcBef>
              <a:defRPr sz="900">
                <a:solidFill>
                  <a:srgbClr val="222222"/>
                </a:solidFill>
              </a:defRPr>
            </a:pPr>
            <a:r>
              <a:t>Thanks to CS 5220 staff and collaborators. Acknowledge compute facility / allocation if applicable.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